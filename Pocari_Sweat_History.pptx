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03A66"/>
              </a:gs>
              <a:gs pos="100000">
                <a:srgbClr val="009FE3"/>
              </a:gs>
            </a:gsLst>
            <a:lin ang="9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FFFFFF"/>
                </a:solidFill>
                <a:latin typeface="Helvetica"/>
              </a:rPr>
              <a:t>POCARI</a:t>
            </a:r>
            <a:r>
              <a:rPr sz="1600" b="1" i="1">
                <a:solidFill>
                  <a:srgbClr val="AEF0FF"/>
                </a:solidFill>
                <a:latin typeface="Helvetica"/>
              </a:rPr>
              <a:t>SWEAT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300">
                <a:solidFill>
                  <a:srgbClr val="AEF0FF"/>
                </a:solidFill>
                <a:latin typeface="Helvetica"/>
              </a:rPr>
              <a:t>A HISTORY OF AN ICON</a:t>
            </a:r>
          </a:p>
          <a:p>
            <a:pPr>
              <a:spcBef>
                <a:spcPts val="1400"/>
              </a:spcBef>
            </a:pPr>
            <a:r>
              <a:rPr sz="7200" b="1" i="1">
                <a:solidFill>
                  <a:srgbClr val="FFFFFF"/>
                </a:solidFill>
                <a:latin typeface="Helvetica"/>
              </a:rPr>
              <a:t>POCARI SWEAT</a:t>
            </a:r>
          </a:p>
          <a:p>
            <a:pPr>
              <a:spcBef>
                <a:spcPts val="2000"/>
              </a:spcBef>
            </a:pPr>
            <a:r>
              <a:rPr sz="2200" b="0" i="0">
                <a:solidFill>
                  <a:srgbClr val="AEF0FF"/>
                </a:solidFill>
                <a:latin typeface="Helvetica"/>
              </a:rPr>
              <a:t>How a pharmaceutical company turned the science of an IV drip into the drink you can sweat — and a billion-dollar cultural icon.</a:t>
            </a:r>
          </a:p>
          <a:p>
            <a:pPr>
              <a:spcBef>
                <a:spcPts val="2200"/>
              </a:spcBef>
            </a:pPr>
            <a:r>
              <a:rPr sz="1400" b="1" i="0">
                <a:solidFill>
                  <a:srgbClr val="AEF0FF"/>
                </a:solidFill>
                <a:latin typeface="Helvetica"/>
              </a:rPr>
              <a:t>Otsuka Pharmaceutical  ·  Launched 1980  ·  Tokushima, Japan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AF8FF"/>
              </a:gs>
              <a:gs pos="100000">
                <a:srgbClr val="8FD4F3"/>
              </a:gs>
            </a:gsLst>
            <a:lin ang="8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0066B3"/>
                </a:solidFill>
                <a:latin typeface="Helvetica"/>
              </a:rPr>
              <a:t>POCARI</a:t>
            </a:r>
            <a:r>
              <a:rPr sz="1600" b="1" i="1">
                <a:solidFill>
                  <a:srgbClr val="009FE3"/>
                </a:solidFill>
                <a:latin typeface="Helvetica"/>
              </a:rPr>
              <a:t>SWEAT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300">
                <a:solidFill>
                  <a:srgbClr val="0066B3"/>
                </a:solidFill>
                <a:latin typeface="Helvetica"/>
              </a:rPr>
              <a:t>01 · THE MAKER</a:t>
            </a:r>
          </a:p>
          <a:p>
            <a:pPr>
              <a:spcBef>
                <a:spcPts val="1000"/>
              </a:spcBef>
            </a:pPr>
            <a:r>
              <a:rPr sz="4000" b="1" i="0">
                <a:solidFill>
                  <a:srgbClr val="00355C"/>
                </a:solidFill>
                <a:latin typeface="Helvetica"/>
              </a:rPr>
              <a:t>Born from a medicine company, not a soda company.</a:t>
            </a:r>
          </a:p>
          <a:p>
            <a:pPr>
              <a:spcBef>
                <a:spcPts val="1800"/>
              </a:spcBef>
            </a:pPr>
            <a:r>
              <a:rPr sz="2100" b="0" i="0">
                <a:solidFill>
                  <a:srgbClr val="00355C"/>
                </a:solidFill>
                <a:latin typeface="Helvetica"/>
              </a:rPr>
              <a:t>Pocari Sweat comes from </a:t>
            </a:r>
            <a:r>
              <a:rPr sz="2100" b="1" i="0">
                <a:solidFill>
                  <a:srgbClr val="0066B3"/>
                </a:solidFill>
                <a:latin typeface="Helvetica"/>
              </a:rPr>
              <a:t>Otsuka Pharmaceutical</a:t>
            </a:r>
            <a:r>
              <a:rPr sz="2100" b="0" i="0">
                <a:solidFill>
                  <a:srgbClr val="00355C"/>
                </a:solidFill>
                <a:latin typeface="Helvetica"/>
              </a:rPr>
              <a:t> — with roots tracing to </a:t>
            </a:r>
            <a:r>
              <a:rPr sz="2100" b="1" i="0">
                <a:solidFill>
                  <a:srgbClr val="0066B3"/>
                </a:solidFill>
                <a:latin typeface="Helvetica"/>
              </a:rPr>
              <a:t>1921</a:t>
            </a:r>
            <a:r>
              <a:rPr sz="2100" b="0" i="0">
                <a:solidFill>
                  <a:srgbClr val="00355C"/>
                </a:solidFill>
                <a:latin typeface="Helvetica"/>
              </a:rPr>
              <a:t>, and the pharmaceutical company established in </a:t>
            </a:r>
            <a:r>
              <a:rPr sz="2100" b="1" i="0">
                <a:solidFill>
                  <a:srgbClr val="0066B3"/>
                </a:solidFill>
                <a:latin typeface="Helvetica"/>
              </a:rPr>
              <a:t>1964</a:t>
            </a:r>
            <a:r>
              <a:rPr sz="2100" b="0" i="0">
                <a:solidFill>
                  <a:srgbClr val="00355C"/>
                </a:solidFill>
                <a:latin typeface="Helvetica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66B3"/>
                </a:solidFill>
                <a:latin typeface="Helvetica"/>
              </a:rPr>
              <a:t>💧  </a:t>
            </a:r>
            <a:r>
              <a:rPr sz="1800" b="0" i="0">
                <a:solidFill>
                  <a:srgbClr val="00355C"/>
                </a:solidFill>
                <a:latin typeface="Helvetica"/>
              </a:rPr>
              <a:t>Decades of expertise making intravenous (IV) solutions for hospitals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66B3"/>
                </a:solidFill>
                <a:latin typeface="Helvetica"/>
              </a:rPr>
              <a:t>💧  </a:t>
            </a:r>
            <a:r>
              <a:rPr sz="1800" b="0" i="0">
                <a:solidFill>
                  <a:srgbClr val="00355C"/>
                </a:solidFill>
                <a:latin typeface="Helvetica"/>
              </a:rPr>
              <a:t>That fluid-and-electrolyte know-how became the base for a consumer drink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0406B"/>
              </a:gs>
              <a:gs pos="100000">
                <a:srgbClr val="04111F"/>
              </a:gs>
            </a:gsLst>
            <a:lin ang="9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FFFFFF"/>
                </a:solidFill>
                <a:latin typeface="Helvetica"/>
              </a:rPr>
              <a:t>POCARI</a:t>
            </a:r>
            <a:r>
              <a:rPr sz="1600" b="1" i="1">
                <a:solidFill>
                  <a:srgbClr val="AEF0FF"/>
                </a:solidFill>
                <a:latin typeface="Helvetica"/>
              </a:rPr>
              <a:t>SWEAT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300">
                <a:solidFill>
                  <a:srgbClr val="AEF0FF"/>
                </a:solidFill>
                <a:latin typeface="Helvetica"/>
              </a:rPr>
              <a:t>02 · THE SPARK</a:t>
            </a:r>
          </a:p>
          <a:p>
            <a:pPr>
              <a:spcBef>
                <a:spcPts val="1000"/>
              </a:spcBef>
            </a:pPr>
            <a:r>
              <a:rPr sz="4000" b="1" i="0">
                <a:solidFill>
                  <a:srgbClr val="FFFFFF"/>
                </a:solidFill>
                <a:latin typeface="Helvetica"/>
              </a:rPr>
              <a:t>A lightbulb moment in a Mexican hospital.</a:t>
            </a:r>
          </a:p>
          <a:p>
            <a:pPr>
              <a:spcBef>
                <a:spcPts val="1800"/>
              </a:spcBef>
            </a:pPr>
            <a:r>
              <a:rPr sz="2100" b="0" i="0">
                <a:solidFill>
                  <a:srgbClr val="FFFFFF"/>
                </a:solidFill>
                <a:latin typeface="Helvetica"/>
              </a:rPr>
              <a:t>In the early 1970s, researcher </a:t>
            </a:r>
            <a:r>
              <a:rPr sz="2100" b="1" i="0">
                <a:solidFill>
                  <a:srgbClr val="AEF0FF"/>
                </a:solidFill>
                <a:latin typeface="Helvetica"/>
              </a:rPr>
              <a:t>Rokuro Harima</a:t>
            </a:r>
            <a:r>
              <a:rPr sz="2100" b="0" i="0">
                <a:solidFill>
                  <a:srgbClr val="FFFFFF"/>
                </a:solidFill>
                <a:latin typeface="Helvetica"/>
              </a:rPr>
              <a:t> was hospitalized with diarrhea on a trip to Mexico. Watching a doctor drink an </a:t>
            </a:r>
            <a:r>
              <a:rPr sz="2100" b="1" i="0">
                <a:solidFill>
                  <a:srgbClr val="AEF0FF"/>
                </a:solidFill>
                <a:latin typeface="Helvetica"/>
              </a:rPr>
              <a:t>IV rehydration solution</a:t>
            </a:r>
            <a:r>
              <a:rPr sz="2100" b="0" i="0">
                <a:solidFill>
                  <a:srgbClr val="FFFFFF"/>
                </a:solidFill>
                <a:latin typeface="Helvetica"/>
              </a:rPr>
              <a:t>, he wondered: what if you could bottle that?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9FE3"/>
                </a:solidFill>
                <a:latin typeface="Helvetica"/>
              </a:rPr>
              <a:t>●  </a:t>
            </a:r>
            <a:r>
              <a:rPr sz="1800" b="0" i="0">
                <a:solidFill>
                  <a:srgbClr val="FFFFFF"/>
                </a:solidFill>
                <a:latin typeface="Helvetica"/>
              </a:rPr>
              <a:t>The idea: a “drinkable IV drip” to replace water and the salts the body loses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AF8FF"/>
              </a:gs>
              <a:gs pos="100000">
                <a:srgbClr val="8FD4F3"/>
              </a:gs>
            </a:gsLst>
            <a:lin ang="8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0066B3"/>
                </a:solidFill>
                <a:latin typeface="Helvetica"/>
              </a:rPr>
              <a:t>POCARI</a:t>
            </a:r>
            <a:r>
              <a:rPr sz="1600" b="1" i="1">
                <a:solidFill>
                  <a:srgbClr val="009FE3"/>
                </a:solidFill>
                <a:latin typeface="Helvetica"/>
              </a:rPr>
              <a:t>SWEAT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300">
                <a:solidFill>
                  <a:srgbClr val="0066B3"/>
                </a:solidFill>
                <a:latin typeface="Helvetica"/>
              </a:rPr>
              <a:t>03 · THE SCIENCE</a:t>
            </a:r>
          </a:p>
          <a:p>
            <a:pPr>
              <a:spcBef>
                <a:spcPts val="1000"/>
              </a:spcBef>
            </a:pPr>
            <a:r>
              <a:rPr sz="4000" b="1" i="0">
                <a:solidFill>
                  <a:srgbClr val="00355C"/>
                </a:solidFill>
                <a:latin typeface="Helvetica"/>
              </a:rPr>
              <a:t>Designed to taste like what your body loses.</a:t>
            </a:r>
          </a:p>
          <a:p>
            <a:pPr>
              <a:spcBef>
                <a:spcPts val="1800"/>
              </a:spcBef>
            </a:pPr>
            <a:r>
              <a:rPr sz="2100" b="0" i="0">
                <a:solidFill>
                  <a:srgbClr val="00355C"/>
                </a:solidFill>
                <a:latin typeface="Helvetica"/>
              </a:rPr>
              <a:t>Researchers studied </a:t>
            </a:r>
            <a:r>
              <a:rPr sz="2100" b="1" i="0">
                <a:solidFill>
                  <a:srgbClr val="0066B3"/>
                </a:solidFill>
                <a:latin typeface="Helvetica"/>
              </a:rPr>
              <a:t>the composition of sweat</a:t>
            </a:r>
            <a:r>
              <a:rPr sz="2100" b="0" i="0">
                <a:solidFill>
                  <a:srgbClr val="00355C"/>
                </a:solidFill>
                <a:latin typeface="Helvetica"/>
              </a:rPr>
              <a:t> and built an </a:t>
            </a:r>
            <a:r>
              <a:rPr sz="2100" b="1" i="0">
                <a:solidFill>
                  <a:srgbClr val="0066B3"/>
                </a:solidFill>
                <a:latin typeface="Helvetica"/>
              </a:rPr>
              <a:t>isotonic</a:t>
            </a:r>
            <a:r>
              <a:rPr sz="2100" b="0" i="0">
                <a:solidFill>
                  <a:srgbClr val="00355C"/>
                </a:solidFill>
                <a:latin typeface="Helvetica"/>
              </a:rPr>
              <a:t> drink that mirrors the body’s own fluids, so water and electrolytes absorb quickly.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66B3"/>
                </a:solidFill>
                <a:latin typeface="Helvetica"/>
              </a:rPr>
              <a:t>💧  </a:t>
            </a:r>
            <a:r>
              <a:rPr sz="1800" b="0" i="0">
                <a:solidFill>
                  <a:srgbClr val="00355C"/>
                </a:solidFill>
                <a:latin typeface="Helvetica"/>
              </a:rPr>
              <a:t>Sodium, potassium, calcium &amp; magnesium — the ions lost in perspiration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66B3"/>
                </a:solidFill>
                <a:latin typeface="Helvetica"/>
              </a:rPr>
              <a:t>💧  </a:t>
            </a:r>
            <a:r>
              <a:rPr sz="1800" b="0" i="0">
                <a:solidFill>
                  <a:srgbClr val="00355C"/>
                </a:solidFill>
                <a:latin typeface="Helvetica"/>
              </a:rPr>
              <a:t>Light sugars and citrus for fast absorption and a clean, mild taste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66B3"/>
                </a:solidFill>
                <a:latin typeface="Helvetica"/>
              </a:rPr>
              <a:t>💧  </a:t>
            </a:r>
            <a:r>
              <a:rPr sz="1800" b="0" i="0">
                <a:solidFill>
                  <a:srgbClr val="00355C"/>
                </a:solidFill>
                <a:latin typeface="Helvetica"/>
              </a:rPr>
              <a:t>Non-carbonated — made for replenishment, not just refreshment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03A66"/>
              </a:gs>
              <a:gs pos="100000">
                <a:srgbClr val="009FE3"/>
              </a:gs>
            </a:gsLst>
            <a:lin ang="9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FFFFFF"/>
                </a:solidFill>
                <a:latin typeface="Helvetica"/>
              </a:rPr>
              <a:t>POCARI</a:t>
            </a:r>
            <a:r>
              <a:rPr sz="1600" b="1" i="1">
                <a:solidFill>
                  <a:srgbClr val="AEF0FF"/>
                </a:solidFill>
                <a:latin typeface="Helvetica"/>
              </a:rPr>
              <a:t>SWEAT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300">
                <a:solidFill>
                  <a:srgbClr val="AEF0FF"/>
                </a:solidFill>
                <a:latin typeface="Helvetica"/>
              </a:rPr>
              <a:t>04 · THE LONG ROAD</a:t>
            </a:r>
          </a:p>
          <a:p>
            <a:pPr>
              <a:spcBef>
                <a:spcPts val="1000"/>
              </a:spcBef>
            </a:pPr>
            <a:r>
              <a:rPr sz="4000" b="1" i="0">
                <a:solidFill>
                  <a:srgbClr val="FFFFFF"/>
                </a:solidFill>
                <a:latin typeface="Helvetica"/>
              </a:rPr>
              <a:t>1,000 prototypes before it hit the shelf.</a:t>
            </a:r>
          </a:p>
          <a:p>
            <a:pPr>
              <a:spcBef>
                <a:spcPts val="1800"/>
              </a:spcBef>
            </a:pPr>
            <a:r>
              <a:rPr sz="2100" b="0" i="0">
                <a:solidFill>
                  <a:srgbClr val="FFFFFF"/>
                </a:solidFill>
                <a:latin typeface="Helvetica"/>
              </a:rPr>
              <a:t>Early versions tasted </a:t>
            </a:r>
            <a:r>
              <a:rPr sz="2100" b="1" i="0">
                <a:solidFill>
                  <a:srgbClr val="AEF0FF"/>
                </a:solidFill>
                <a:latin typeface="Helvetica"/>
              </a:rPr>
              <a:t>far too bitter</a:t>
            </a:r>
            <a:r>
              <a:rPr sz="2100" b="0" i="0">
                <a:solidFill>
                  <a:srgbClr val="FFFFFF"/>
                </a:solidFill>
                <a:latin typeface="Helvetica"/>
              </a:rPr>
              <a:t>. The breakthrough came when the team added a dash of </a:t>
            </a:r>
            <a:r>
              <a:rPr sz="2100" b="1" i="0">
                <a:solidFill>
                  <a:srgbClr val="AEF0FF"/>
                </a:solidFill>
                <a:latin typeface="Helvetica"/>
              </a:rPr>
              <a:t>citrus juice powder</a:t>
            </a:r>
            <a:r>
              <a:rPr sz="2100" b="0" i="0">
                <a:solidFill>
                  <a:srgbClr val="FFFFFF"/>
                </a:solidFill>
                <a:latin typeface="Helvetica"/>
              </a:rPr>
              <a:t>, finally landing on two recipes with slightly different sugar levels.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AF8FF"/>
              </a:gs>
              <a:gs pos="100000">
                <a:srgbClr val="8FD4F3"/>
              </a:gs>
            </a:gsLst>
            <a:lin ang="8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0066B3"/>
                </a:solidFill>
                <a:latin typeface="Helvetica"/>
              </a:rPr>
              <a:t>POCARI</a:t>
            </a:r>
            <a:r>
              <a:rPr sz="1600" b="1" i="1">
                <a:solidFill>
                  <a:srgbClr val="009FE3"/>
                </a:solidFill>
                <a:latin typeface="Helvetica"/>
              </a:rPr>
              <a:t>SWEAT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300">
                <a:solidFill>
                  <a:srgbClr val="0066B3"/>
                </a:solidFill>
                <a:latin typeface="Helvetica"/>
              </a:rPr>
              <a:t>05 · THE NAME</a:t>
            </a:r>
          </a:p>
          <a:p>
            <a:pPr>
              <a:spcBef>
                <a:spcPts val="1000"/>
              </a:spcBef>
            </a:pPr>
            <a:r>
              <a:rPr sz="4000" b="1" i="0">
                <a:solidFill>
                  <a:srgbClr val="00355C"/>
                </a:solidFill>
                <a:latin typeface="Helvetica"/>
              </a:rPr>
              <a:t>“Sweat” — a marketing gamble that became the brand.</a:t>
            </a:r>
          </a:p>
          <a:p>
            <a:pPr>
              <a:spcBef>
                <a:spcPts val="1800"/>
              </a:spcBef>
            </a:pPr>
            <a:r>
              <a:rPr sz="2100" b="1" i="0">
                <a:solidFill>
                  <a:srgbClr val="0066B3"/>
                </a:solidFill>
                <a:latin typeface="Helvetica"/>
              </a:rPr>
              <a:t>“Pocari”</a:t>
            </a:r>
            <a:r>
              <a:rPr sz="2100" b="0" i="0">
                <a:solidFill>
                  <a:srgbClr val="00355C"/>
                </a:solidFill>
                <a:latin typeface="Helvetica"/>
              </a:rPr>
              <a:t> means nothing — invented purely for its bright, refreshing sound. </a:t>
            </a:r>
            <a:r>
              <a:rPr sz="2100" b="1" i="0">
                <a:solidFill>
                  <a:srgbClr val="0066B3"/>
                </a:solidFill>
                <a:latin typeface="Helvetica"/>
              </a:rPr>
              <a:t>“Sweat”</a:t>
            </a:r>
            <a:r>
              <a:rPr sz="2100" b="0" i="0">
                <a:solidFill>
                  <a:srgbClr val="00355C"/>
                </a:solidFill>
                <a:latin typeface="Helvetica"/>
              </a:rPr>
              <a:t> bluntly names what the drink replaces.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66B3"/>
                </a:solidFill>
                <a:latin typeface="Helvetica"/>
              </a:rPr>
              <a:t>💧  </a:t>
            </a:r>
            <a:r>
              <a:rPr sz="1800" b="0" i="0">
                <a:solidFill>
                  <a:srgbClr val="00355C"/>
                </a:solidFill>
                <a:latin typeface="Helvetica"/>
              </a:rPr>
              <a:t>A risky name in English-speaking markets — but unforgettable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66B3"/>
                </a:solidFill>
                <a:latin typeface="Helvetica"/>
              </a:rPr>
              <a:t>💧  </a:t>
            </a:r>
            <a:r>
              <a:rPr sz="1800" b="0" i="0">
                <a:solidFill>
                  <a:srgbClr val="00355C"/>
                </a:solidFill>
                <a:latin typeface="Helvetica"/>
              </a:rPr>
              <a:t>The blue-and-white can evokes a clear sky and clean water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0406B"/>
              </a:gs>
              <a:gs pos="100000">
                <a:srgbClr val="04111F"/>
              </a:gs>
            </a:gsLst>
            <a:lin ang="9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FFFFFF"/>
                </a:solidFill>
                <a:latin typeface="Helvetica"/>
              </a:rPr>
              <a:t>POCARI</a:t>
            </a:r>
            <a:r>
              <a:rPr sz="1600" b="1" i="1">
                <a:solidFill>
                  <a:srgbClr val="AEF0FF"/>
                </a:solidFill>
                <a:latin typeface="Helvetica"/>
              </a:rPr>
              <a:t>SWEAT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300">
                <a:solidFill>
                  <a:srgbClr val="AEF0FF"/>
                </a:solidFill>
                <a:latin typeface="Helvetica"/>
              </a:rPr>
              <a:t>06 · THE LAUNCH</a:t>
            </a:r>
          </a:p>
          <a:p>
            <a:pPr>
              <a:spcBef>
                <a:spcPts val="1000"/>
              </a:spcBef>
            </a:pPr>
            <a:r>
              <a:rPr sz="4000" b="1" i="0">
                <a:solidFill>
                  <a:srgbClr val="FFFFFF"/>
                </a:solidFill>
                <a:latin typeface="Helvetica"/>
              </a:rPr>
              <a:t>1980: a slow start, then a flood.</a:t>
            </a:r>
          </a:p>
          <a:p>
            <a:pPr>
              <a:spcBef>
                <a:spcPts val="1800"/>
              </a:spcBef>
            </a:pPr>
            <a:r>
              <a:rPr sz="2100" b="0" i="0">
                <a:solidFill>
                  <a:srgbClr val="FFFFFF"/>
                </a:solidFill>
                <a:latin typeface="Helvetica"/>
              </a:rPr>
              <a:t>Sales were sluggish at first — the concept was unfamiliar. Otsuka responded by </a:t>
            </a:r>
            <a:r>
              <a:rPr sz="2100" b="1" i="0">
                <a:solidFill>
                  <a:srgbClr val="AEF0FF"/>
                </a:solidFill>
                <a:latin typeface="Helvetica"/>
              </a:rPr>
              <a:t>giving away millions of free samples</a:t>
            </a:r>
            <a:r>
              <a:rPr sz="2100" b="0" i="0">
                <a:solidFill>
                  <a:srgbClr val="FFFFFF"/>
                </a:solidFill>
                <a:latin typeface="Helvetica"/>
              </a:rPr>
              <a:t>, letting the taste sell itself. It worked.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AF8FF"/>
              </a:gs>
              <a:gs pos="100000">
                <a:srgbClr val="8FD4F3"/>
              </a:gs>
            </a:gsLst>
            <a:lin ang="8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0066B3"/>
                </a:solidFill>
                <a:latin typeface="Helvetica"/>
              </a:rPr>
              <a:t>POCARI</a:t>
            </a:r>
            <a:r>
              <a:rPr sz="1600" b="1" i="1">
                <a:solidFill>
                  <a:srgbClr val="009FE3"/>
                </a:solidFill>
                <a:latin typeface="Helvetica"/>
              </a:rPr>
              <a:t>SWEAT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300">
                <a:solidFill>
                  <a:srgbClr val="0066B3"/>
                </a:solidFill>
                <a:latin typeface="Helvetica"/>
              </a:rPr>
              <a:t>07 · GOING GLOBAL</a:t>
            </a:r>
          </a:p>
          <a:p>
            <a:pPr>
              <a:spcBef>
                <a:spcPts val="1000"/>
              </a:spcBef>
            </a:pPr>
            <a:r>
              <a:rPr sz="4000" b="1" i="0">
                <a:solidFill>
                  <a:srgbClr val="00355C"/>
                </a:solidFill>
                <a:latin typeface="Helvetica"/>
              </a:rPr>
              <a:t>From Tokushima to the world.</a:t>
            </a:r>
          </a:p>
          <a:p>
            <a:pPr>
              <a:spcBef>
                <a:spcPts val="1800"/>
              </a:spcBef>
            </a:pPr>
            <a:r>
              <a:rPr sz="2100" b="0" i="0">
                <a:solidFill>
                  <a:srgbClr val="00355C"/>
                </a:solidFill>
                <a:latin typeface="Helvetica"/>
              </a:rPr>
              <a:t>It became </a:t>
            </a:r>
            <a:r>
              <a:rPr sz="2100" b="1" i="0">
                <a:solidFill>
                  <a:srgbClr val="0066B3"/>
                </a:solidFill>
                <a:latin typeface="Helvetica"/>
              </a:rPr>
              <a:t>Japan’s first home-grown non-alcoholic drink to ship over $1 billion</a:t>
            </a:r>
            <a:r>
              <a:rPr sz="2100" b="0" i="0">
                <a:solidFill>
                  <a:srgbClr val="00355C"/>
                </a:solidFill>
                <a:latin typeface="Helvetica"/>
              </a:rPr>
              <a:t>. Sold as cans, then bottles, plus powder and the lighter Ion Water.</a:t>
            </a:r>
          </a:p>
          <a:p>
            <a:pPr>
              <a:spcBef>
                <a:spcPts val="2000"/>
              </a:spcBef>
            </a:pPr>
            <a:r>
              <a:rPr sz="3000" b="1" i="1">
                <a:solidFill>
                  <a:srgbClr val="0066B3"/>
                </a:solidFill>
                <a:latin typeface="Helvetica"/>
              </a:rPr>
              <a:t>1982  </a:t>
            </a:r>
            <a:r>
              <a:rPr sz="1400" b="1" i="0">
                <a:solidFill>
                  <a:srgbClr val="00355C"/>
                </a:solidFill>
                <a:latin typeface="Helvetica"/>
              </a:rPr>
              <a:t>Hong Kong &amp; Taiwan</a:t>
            </a:r>
            <a:r>
              <a:rPr sz="3000" b="1" i="1">
                <a:solidFill>
                  <a:srgbClr val="0066B3"/>
                </a:solidFill>
                <a:latin typeface="Helvetica"/>
              </a:rPr>
              <a:t>        1983  </a:t>
            </a:r>
            <a:r>
              <a:rPr sz="1400" b="1" i="0">
                <a:solidFill>
                  <a:srgbClr val="00355C"/>
                </a:solidFill>
                <a:latin typeface="Helvetica"/>
              </a:rPr>
              <a:t>Singapore &amp; Mid-East</a:t>
            </a:r>
            <a:r>
              <a:rPr sz="3000" b="1" i="1">
                <a:solidFill>
                  <a:srgbClr val="0066B3"/>
                </a:solidFill>
                <a:latin typeface="Helvetica"/>
              </a:rPr>
              <a:t>        $1B+  </a:t>
            </a:r>
            <a:r>
              <a:rPr sz="1400" b="1" i="0">
                <a:solidFill>
                  <a:srgbClr val="00355C"/>
                </a:solidFill>
                <a:latin typeface="Helvetica"/>
              </a:rPr>
              <a:t>by the mid-1990s</a:t>
            </a:r>
            <a:r>
              <a:rPr sz="3000" b="1" i="1">
                <a:solidFill>
                  <a:srgbClr val="0066B3"/>
                </a:solidFill>
                <a:latin typeface="Helvetica"/>
              </a:rPr>
              <a:t>        20+  </a:t>
            </a:r>
            <a:r>
              <a:rPr sz="1400" b="1" i="0">
                <a:solidFill>
                  <a:srgbClr val="00355C"/>
                </a:solidFill>
                <a:latin typeface="Helvetica"/>
              </a:rPr>
              <a:t>countries today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03A66"/>
              </a:gs>
              <a:gs pos="100000">
                <a:srgbClr val="009FE3"/>
              </a:gs>
            </a:gsLst>
            <a:lin ang="9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FFFFFF"/>
                </a:solidFill>
                <a:latin typeface="Helvetica"/>
              </a:rPr>
              <a:t>POCARI</a:t>
            </a:r>
            <a:r>
              <a:rPr sz="1600" b="1" i="1">
                <a:solidFill>
                  <a:srgbClr val="AEF0FF"/>
                </a:solidFill>
                <a:latin typeface="Helvetica"/>
              </a:rPr>
              <a:t>SWEAT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300">
                <a:solidFill>
                  <a:srgbClr val="AEF0FF"/>
                </a:solidFill>
                <a:latin typeface="Helvetica"/>
              </a:rPr>
              <a:t>08 · CULTURE</a:t>
            </a:r>
          </a:p>
          <a:p>
            <a:pPr>
              <a:spcBef>
                <a:spcPts val="1000"/>
              </a:spcBef>
            </a:pPr>
            <a:r>
              <a:rPr sz="4000" b="1" i="0">
                <a:solidFill>
                  <a:srgbClr val="FFFFFF"/>
                </a:solidFill>
                <a:latin typeface="Helvetica"/>
              </a:rPr>
              <a:t>A drink that became a way of life in Asia.</a:t>
            </a:r>
          </a:p>
          <a:p>
            <a:pPr>
              <a:spcBef>
                <a:spcPts val="1800"/>
              </a:spcBef>
            </a:pPr>
            <a:r>
              <a:rPr sz="2100" b="0" i="0">
                <a:solidFill>
                  <a:srgbClr val="FFFFFF"/>
                </a:solidFill>
                <a:latin typeface="Helvetica"/>
              </a:rPr>
              <a:t>Beyond sport, Pocari wove itself into daily life — </a:t>
            </a:r>
            <a:r>
              <a:rPr sz="2100" b="1" i="0">
                <a:solidFill>
                  <a:srgbClr val="AEF0FF"/>
                </a:solidFill>
                <a:latin typeface="Helvetica"/>
              </a:rPr>
              <a:t>dreamy anime and cinematic ad campaigns</a:t>
            </a:r>
            <a:r>
              <a:rPr sz="2100" b="0" i="0">
                <a:solidFill>
                  <a:srgbClr val="FFFFFF"/>
                </a:solidFill>
                <a:latin typeface="Helvetica"/>
              </a:rPr>
              <a:t>, a youthful blue identity, and staple status across </a:t>
            </a:r>
            <a:r>
              <a:rPr sz="2100" b="1" i="0">
                <a:solidFill>
                  <a:srgbClr val="AEF0FF"/>
                </a:solidFill>
                <a:latin typeface="Helvetica"/>
              </a:rPr>
              <a:t>Indonesia, Korea and Southeast Asia</a:t>
            </a:r>
            <a:r>
              <a:rPr sz="2100" b="0" i="0">
                <a:solidFill>
                  <a:srgbClr val="FFFFFF"/>
                </a:solidFill>
                <a:latin typeface="Helvetica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9FE3"/>
                </a:solidFill>
                <a:latin typeface="Helvetica"/>
              </a:rPr>
              <a:t>●  </a:t>
            </a:r>
            <a:r>
              <a:rPr sz="1800" b="0" i="0">
                <a:solidFill>
                  <a:srgbClr val="FFFFFF"/>
                </a:solidFill>
                <a:latin typeface="Helvetica"/>
              </a:rPr>
              <a:t>One of the most recognizable beverage brands in Asia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9FE3"/>
                </a:solidFill>
                <a:latin typeface="Helvetica"/>
              </a:rPr>
              <a:t>●  </a:t>
            </a:r>
            <a:r>
              <a:rPr sz="1800" b="0" i="0">
                <a:solidFill>
                  <a:srgbClr val="FFFFFF"/>
                </a:solidFill>
                <a:latin typeface="Helvetica"/>
              </a:rPr>
              <a:t>Marketed for fever, exercise, travel and everyday hydration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0406B"/>
              </a:gs>
              <a:gs pos="100000">
                <a:srgbClr val="04111F"/>
              </a:gs>
            </a:gsLst>
            <a:lin ang="9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FFFFFF"/>
                </a:solidFill>
                <a:latin typeface="Helvetica"/>
              </a:rPr>
              <a:t>POCARI</a:t>
            </a:r>
            <a:r>
              <a:rPr sz="1600" b="1" i="1">
                <a:solidFill>
                  <a:srgbClr val="AEF0FF"/>
                </a:solidFill>
                <a:latin typeface="Helvetica"/>
              </a:rPr>
              <a:t>SWEAT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300">
                <a:solidFill>
                  <a:srgbClr val="AEF0FF"/>
                </a:solidFill>
                <a:latin typeface="Helvetica"/>
              </a:rPr>
              <a:t>09 · TO THE MOON</a:t>
            </a:r>
          </a:p>
          <a:p>
            <a:pPr>
              <a:spcBef>
                <a:spcPts val="1000"/>
              </a:spcBef>
            </a:pPr>
            <a:r>
              <a:rPr sz="4000" b="1" i="0">
                <a:solidFill>
                  <a:srgbClr val="FFFFFF"/>
                </a:solidFill>
                <a:latin typeface="Helvetica"/>
              </a:rPr>
              <a:t>The first sports drink aimed at the Moon.</a:t>
            </a:r>
          </a:p>
          <a:p>
            <a:pPr>
              <a:spcBef>
                <a:spcPts val="1800"/>
              </a:spcBef>
            </a:pPr>
            <a:r>
              <a:rPr sz="2100" b="0" i="0">
                <a:solidFill>
                  <a:srgbClr val="FFFFFF"/>
                </a:solidFill>
                <a:latin typeface="Helvetica"/>
              </a:rPr>
              <a:t>In 2014 Otsuka unveiled the </a:t>
            </a:r>
            <a:r>
              <a:rPr sz="2100" b="1" i="0">
                <a:solidFill>
                  <a:srgbClr val="AEF0FF"/>
                </a:solidFill>
                <a:latin typeface="Helvetica"/>
              </a:rPr>
              <a:t>Lunar Dream Capsule</a:t>
            </a:r>
            <a:r>
              <a:rPr sz="2100" b="0" i="0">
                <a:solidFill>
                  <a:srgbClr val="FFFFFF"/>
                </a:solidFill>
                <a:latin typeface="Helvetica"/>
              </a:rPr>
              <a:t> — a Pocari-shaped titanium time capsule holding </a:t>
            </a:r>
            <a:r>
              <a:rPr sz="2100" b="1" i="0">
                <a:solidFill>
                  <a:srgbClr val="AEF0FF"/>
                </a:solidFill>
                <a:latin typeface="Helvetica"/>
              </a:rPr>
              <a:t>powdered Pocari Sweat</a:t>
            </a:r>
            <a:r>
              <a:rPr sz="2100" b="0" i="0">
                <a:solidFill>
                  <a:srgbClr val="FFFFFF"/>
                </a:solidFill>
                <a:latin typeface="Helvetica"/>
              </a:rPr>
              <a:t> and children’s dreams, meant to ride a private lander to the Moon.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9FE3"/>
                </a:solidFill>
                <a:latin typeface="Helvetica"/>
              </a:rPr>
              <a:t>●  </a:t>
            </a:r>
            <a:r>
              <a:rPr sz="1800" b="0" i="0">
                <a:solidFill>
                  <a:srgbClr val="FFFFFF"/>
                </a:solidFill>
                <a:latin typeface="Helvetica"/>
              </a:rPr>
              <a:t>The dream: open it in ~30 years and mix the powder with water mined on the Moon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03A66"/>
              </a:gs>
              <a:gs pos="100000">
                <a:srgbClr val="009FE3"/>
              </a:gs>
            </a:gsLst>
            <a:lin ang="9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FFFFFF"/>
                </a:solidFill>
                <a:latin typeface="Helvetica"/>
              </a:rPr>
              <a:t>POCARI</a:t>
            </a:r>
            <a:r>
              <a:rPr sz="1600" b="1" i="1">
                <a:solidFill>
                  <a:srgbClr val="AEF0FF"/>
                </a:solidFill>
                <a:latin typeface="Helvetica"/>
              </a:rPr>
              <a:t>SWEAT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300">
                <a:solidFill>
                  <a:srgbClr val="AEF0FF"/>
                </a:solidFill>
                <a:latin typeface="Helvetica"/>
              </a:rPr>
              <a:t>THE LEGACY</a:t>
            </a:r>
          </a:p>
          <a:p>
            <a:pPr>
              <a:spcBef>
                <a:spcPts val="1400"/>
              </a:spcBef>
            </a:pPr>
            <a:r>
              <a:rPr sz="4400" b="1" i="1">
                <a:solidFill>
                  <a:srgbClr val="FFFFFF"/>
                </a:solidFill>
                <a:latin typeface="Helvetica"/>
              </a:rPr>
              <a:t>“Closer to your body than water itself.”</a:t>
            </a:r>
          </a:p>
          <a:p>
            <a:pPr>
              <a:spcBef>
                <a:spcPts val="2000"/>
              </a:spcBef>
            </a:pPr>
            <a:r>
              <a:rPr sz="2100" b="0" i="0">
                <a:solidFill>
                  <a:srgbClr val="AEF0FF"/>
                </a:solidFill>
                <a:latin typeface="Helvetica"/>
              </a:rPr>
              <a:t>From a hospital bed in Mexico to a moonbound capsule — Pocari Sweat turned pharmaceutical science into an everyday icon, and rewrote what a drink could be.</a:t>
            </a:r>
          </a:p>
          <a:p>
            <a:pPr>
              <a:spcBef>
                <a:spcPts val="2400"/>
              </a:spcBef>
            </a:pPr>
            <a:r>
              <a:rPr sz="1300" b="1" i="0">
                <a:solidFill>
                  <a:srgbClr val="AEF0FF"/>
                </a:solidFill>
                <a:latin typeface="Helvetica"/>
              </a:rPr>
              <a:t>Sources: Otsuka Pharmaceutical · CNN Business · Wikipedia · Atlas Obscura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